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%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893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59.8</c:v>
                </c:pt>
                <c:pt idx="1">
                  <c:v>52.1</c:v>
                </c:pt>
                <c:pt idx="2">
                  <c:v>35.6</c:v>
                </c:pt>
                <c:pt idx="3">
                  <c:v>10.4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Late 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ED8936"/>
              </a:solidFill>
              <a:effectLst/>
            </c:spPr>
          </c:dPt>
          <c:dPt>
            <c:idx val="3"/>
            <c:bubble3D val="0"/>
            <c:spPr>
              <a:solidFill>
                <a:srgbClr val="E53E3E"/>
              </a:solidFill>
              <a:effectLst/>
            </c:spPr>
          </c:dPt>
          <c:dPt>
            <c:idx val="4"/>
            <c:bubble3D val="0"/>
            <c:spPr>
              <a:solidFill>
                <a:srgbClr val="38A169"/>
              </a:solidFill>
              <a:effectLst/>
            </c:spPr>
          </c:dPt>
          <c:dPt>
            <c:idx val="5"/>
            <c:bubble3D val="0"/>
            <c:spPr>
              <a:solidFill>
                <a:srgbClr val="4A556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Latin America</c:v>
                </c:pt>
                <c:pt idx="1">
                  <c:v>Western Europe</c:v>
                </c:pt>
                <c:pt idx="2">
                  <c:v>Central America</c:v>
                </c:pt>
                <c:pt idx="3">
                  <c:v>Asia Pacific</c:v>
                </c:pt>
                <c:pt idx="4">
                  <c:v>North America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28.3</c:v>
                </c:pt>
                <c:pt idx="1">
                  <c:v>22.1</c:v>
                </c:pt>
                <c:pt idx="2">
                  <c:v>16.4</c:v>
                </c:pt>
                <c:pt idx="3">
                  <c:v>14.2</c:v>
                </c:pt>
                <c:pt idx="4">
                  <c:v>11.6</c:v>
                </c:pt>
                <c:pt idx="5">
                  <c:v>7.4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</c:v>
                  </c:pt>
                  <c:pt idx="1">
                    <c:v>Second</c:v>
                  </c:pt>
                  <c:pt idx="2">
                    <c:v>First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38.5</c:v>
                </c:pt>
                <c:pt idx="1">
                  <c:v>42.1</c:v>
                </c:pt>
                <c:pt idx="2">
                  <c:v>55.3</c:v>
                </c:pt>
                <c:pt idx="3">
                  <c:v>67.8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</c:v>
                  </c:pt>
                  <c:pt idx="1">
                    <c:v>Second</c:v>
                  </c:pt>
                  <c:pt idx="2">
                    <c:v>First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19.2</c:v>
                </c:pt>
                <c:pt idx="1">
                  <c:v>22.4</c:v>
                </c:pt>
                <c:pt idx="2">
                  <c:v>31.7</c:v>
                </c:pt>
                <c:pt idx="3">
                  <c:v>44.5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Profit per Order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Delivery %</c:v>
                </c:pt>
              </c:strCache>
            </c:strRef>
          </c:tx>
          <c:spPr>
            <a:solidFill>
              <a:srgbClr val="E53E3E"/>
            </a:solidFill>
            <a:ln w="31750" cap="flat">
              <a:solidFill>
                <a:srgbClr val="E53E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48.2</c:v>
                </c:pt>
                <c:pt idx="1">
                  <c:v>49.7</c:v>
                </c:pt>
                <c:pt idx="2">
                  <c:v>51.3</c:v>
                </c:pt>
                <c:pt idx="3">
                  <c:v>54.1</c:v>
                </c:pt>
                <c:pt idx="4">
                  <c:v>56.8</c:v>
                </c:pt>
                <c:pt idx="5">
                  <c:v>53.2</c:v>
                </c:pt>
                <c:pt idx="6">
                  <c:v>50.4</c:v>
                </c:pt>
                <c:pt idx="7">
                  <c:v>52.6</c:v>
                </c:pt>
                <c:pt idx="8">
                  <c:v>55.9</c:v>
                </c:pt>
                <c:pt idx="9">
                  <c:v>58.3</c:v>
                </c:pt>
                <c:pt idx="10">
                  <c:v>61.2</c:v>
                </c:pt>
                <c:pt idx="11">
                  <c:v>57.4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(45%)</c:v>
                </c:pt>
              </c:strCache>
            </c:strRef>
          </c:tx>
          <c:spPr>
            <a:solidFill>
              <a:srgbClr val="38A169"/>
            </a:solidFill>
            <a:ln w="31750" cap="flat">
              <a:solidFill>
                <a:srgbClr val="38A1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A169"/>
              </a:solidFill>
              <a:ln w="9525" cap="flat">
                <a:solidFill>
                  <a:srgbClr val="38A1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45</c:v>
                </c:pt>
                <c:pt idx="6">
                  <c:v>45</c:v>
                </c:pt>
                <c:pt idx="7">
                  <c:v>45</c:v>
                </c:pt>
                <c:pt idx="8">
                  <c:v>45</c:v>
                </c:pt>
                <c:pt idx="9">
                  <c:v>45</c:v>
                </c:pt>
                <c:pt idx="10">
                  <c:v>45</c:v>
                </c:pt>
                <c:pt idx="11">
                  <c:v>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Gradient 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77.4</c:v>
                </c:pt>
                <c:pt idx="1">
                  <c:v>91.2</c:v>
                </c:pt>
                <c:pt idx="2">
                  <c:v>93.7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Gradient 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74.8</c:v>
                </c:pt>
                <c:pt idx="1">
                  <c:v>89.6</c:v>
                </c:pt>
                <c:pt idx="2">
                  <c:v>92.1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Reg.</c:v>
                  </c:pt>
                  <c:pt idx="1">
                    <c:v>Random Forest</c:v>
                  </c:pt>
                  <c:pt idx="2">
                    <c:v>Gradient Boost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0.81</c:v>
                </c:pt>
                <c:pt idx="1">
                  <c:v>0.94</c:v>
                </c:pt>
                <c:pt idx="2">
                  <c:v>0.96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Feature Importance</c:v>
                </c:pt>
              </c:strCache>
            </c:strRef>
          </c:tx>
          <c:spPr>
            <a:solidFill>
              <a:srgbClr val="0077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Shipping Mode</c:v>
                  </c:pt>
                  <c:pt idx="1">
                    <c:v>Processing Time</c:v>
                  </c:pt>
                  <c:pt idx="2">
                    <c:v>Order Region</c:v>
                  </c:pt>
                  <c:pt idx="3">
                    <c:v>Product Category</c:v>
                  </c:pt>
                  <c:pt idx="4">
                    <c:v>Order Day of Week</c:v>
                  </c:pt>
                  <c:pt idx="5">
                    <c:v>Customer Segment</c:v>
                  </c:pt>
                  <c:pt idx="6">
                    <c:v>Sales per Customer</c:v>
                  </c:pt>
                  <c:pt idx="7">
                    <c:v>Order Hour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</c:v>
                </c:pt>
                <c:pt idx="1">
                  <c:v>0.22</c:v>
                </c:pt>
                <c:pt idx="2">
                  <c:v>0.15</c:v>
                </c:pt>
                <c:pt idx="3">
                  <c:v>0.12</c:v>
                </c:pt>
                <c:pt idx="4">
                  <c:v>0.09</c:v>
                </c:pt>
                <c:pt idx="5">
                  <c:v>0.07</c:v>
                </c:pt>
                <c:pt idx="6">
                  <c:v>0.04</c:v>
                </c:pt>
                <c:pt idx="7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0077A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OPERATIONS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Report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· Profit Impact · ML Delay Prediction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$12M+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Profit Impact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Models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Used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95160" y="43159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180K+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995160" y="46451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73152" cy="150876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2070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180,519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97480"/>
            <a:ext cx="73152" cy="15087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898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52.0%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6928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73152" cy="15087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Text 11"/>
          <p:cNvSpPr/>
          <p:nvPr/>
        </p:nvSpPr>
        <p:spPr>
          <a:xfrm>
            <a:off x="4956048" y="12070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$3.97M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956048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69748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697480"/>
            <a:ext cx="73152" cy="15087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28986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$2.34M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56048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Delay Cost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4622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all orders experience late delivery — representing the #1 operational risk and primary profit drain in this supply chain.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Delivery Rate by Shipping Mode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05840"/>
            <a:ext cx="283464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72200" y="1097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172200" y="1353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59.8%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172200" y="17007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delay rate — volume driver of total late orders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35040" y="2331720"/>
            <a:ext cx="283464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72200" y="24231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72200" y="2679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10.4%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72200" y="30266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 — premium speed reduces delay risk significantly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3657600"/>
            <a:ext cx="283464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72200" y="4005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Upgrade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72200" y="43525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15% of Standard to Second Class could save ~$400K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 Distribution by Region &amp; Department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Delay-Prone Departments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325880"/>
          <a:ext cx="3566160" cy="3200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 (days)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 Shop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Apparel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 Impact of Delivery Delays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14400"/>
            <a:ext cx="2651760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914400"/>
            <a:ext cx="64008" cy="80467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987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— On-Time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0800" y="124358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$51.23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2651760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874520"/>
            <a:ext cx="64008" cy="8046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9476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— Delayed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0" y="22037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$29.47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217920" y="2834640"/>
            <a:ext cx="2651760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2834640"/>
            <a:ext cx="64008" cy="80467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29077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Gap per Order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0" y="316382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-$21.76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217920" y="3794760"/>
            <a:ext cx="2651760" cy="80467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3794760"/>
            <a:ext cx="64008" cy="80467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38679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Delay Cost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0" y="41239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$2.34M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Patterns in Late Deliveries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8412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160520"/>
            <a:ext cx="27432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" y="41879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5488" y="44165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· 61.2% late rate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4160520"/>
            <a:ext cx="27432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01568" y="41879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01568" y="44165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· 48.2% late rate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4160520"/>
            <a:ext cx="27432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27648" y="41879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Surge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327648" y="44165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· +8.6pp above average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 Performance — Delay Prediction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6012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87552"/>
            <a:ext cx="283464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987552"/>
            <a:ext cx="64008" cy="10972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10789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17920" y="1353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Accuracy: 77.4%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0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Good interpretability but misses non-linear patterns.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0" y="2249424"/>
            <a:ext cx="283464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0" y="2249424"/>
            <a:ext cx="64008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2340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17920" y="261518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Accuracy: 91.2%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217920" y="2907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ensemble. Handles feature interactions well.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3511296"/>
            <a:ext cx="2834640" cy="1097280"/>
          </a:xfrm>
          <a:prstGeom prst="rect">
            <a:avLst/>
          </a:prstGeom>
          <a:solidFill>
            <a:srgbClr val="F0F4F8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511296"/>
            <a:ext cx="64008" cy="10972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36027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38770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Accuracy: 93.7%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17920" y="41696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performer. Recommended for production deployment.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Features Driving Delay Prediction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914400"/>
          <a:ext cx="56692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914400"/>
            <a:ext cx="25603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46520" y="10515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46520" y="1508760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14630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mode alone explains 28% of delay variance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46520" y="2313432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226771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 time is the most actionable internal lever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446520" y="3118104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6629400" y="307238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infrastructure explains 15% of risk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46520" y="3922776"/>
            <a:ext cx="109728" cy="1097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6629400" y="387705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effects suggest staffing optimization opportunities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8288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Shipping Mode Mix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14538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15–20% of Standard Class volume to Second Class in high-delay regions. Projected annual saving: $400K–$600K.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64008" cy="18288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097280"/>
            <a:ext cx="411480" cy="4114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68112" y="11247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ML Delay Predictor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14538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HIGH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Gradient Boosting model (93.7% accuracy) into the order management system for real-time delay risk flagging.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64008" cy="18288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Processing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8992" y="34655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warehouse processing time from 3.5 to 2.0 days could reduce delay rate by an estimated 8–12 percentage points.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71800"/>
            <a:ext cx="64008" cy="182880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3108960"/>
            <a:ext cx="411480" cy="411480"/>
          </a:xfrm>
          <a:prstGeom prst="ellipse">
            <a:avLst/>
          </a:prstGeom>
          <a:solidFill>
            <a:srgbClr val="0077A8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68112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Carrier Audits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68112" y="34655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and Western Europe drive 50%+ of late orders. Conduct carrier SLA reviews and introduce penalty clauses.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0077A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Turning Insights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Action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920240" cy="2103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 model to order management system (pilot: Latin America)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97480" y="2743200"/>
            <a:ext cx="1920240" cy="2103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333756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shipping mode optimization program with logistics team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1920240" cy="2103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33756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regional carrier SLA audits &amp; renegotiate contracts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95160" y="2743200"/>
            <a:ext cx="1920240" cy="2103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2788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3337560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outcomes, retrain model on fresh data, set 2026 targets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Analytics Report  ·  Prepared for Executive Leadership  ·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Report</dc:title>
  <dc:subject>PptxGenJS Presentation</dc:subject>
  <dc:creator>PptxGenJS</dc:creator>
  <cp:lastModifiedBy>PptxGenJS</cp:lastModifiedBy>
  <cp:revision>1</cp:revision>
  <dcterms:created xsi:type="dcterms:W3CDTF">2026-05-13T14:36:53Z</dcterms:created>
  <dcterms:modified xsi:type="dcterms:W3CDTF">2026-05-13T14:36:53Z</dcterms:modified>
</cp:coreProperties>
</file>